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al Sharma" userId="186a9f7de1fc3dce" providerId="LiveId" clId="{09A98770-D175-4853-BB5E-1EF49EBA68AF}"/>
    <pc:docChg chg="undo custSel modSld">
      <pc:chgData name="Vishal Sharma" userId="186a9f7de1fc3dce" providerId="LiveId" clId="{09A98770-D175-4853-BB5E-1EF49EBA68AF}" dt="2026-04-17T20:08:54.228" v="9" actId="478"/>
      <pc:docMkLst>
        <pc:docMk/>
      </pc:docMkLst>
      <pc:sldChg chg="delSp mod">
        <pc:chgData name="Vishal Sharma" userId="186a9f7de1fc3dce" providerId="LiveId" clId="{09A98770-D175-4853-BB5E-1EF49EBA68AF}" dt="2026-04-17T20:08:38.328" v="1" actId="478"/>
        <pc:sldMkLst>
          <pc:docMk/>
          <pc:sldMk cId="0" sldId="257"/>
        </pc:sldMkLst>
        <pc:spChg chg="del">
          <ac:chgData name="Vishal Sharma" userId="186a9f7de1fc3dce" providerId="LiveId" clId="{09A98770-D175-4853-BB5E-1EF49EBA68AF}" dt="2026-04-17T20:08:38.328" v="1" actId="478"/>
          <ac:spMkLst>
            <pc:docMk/>
            <pc:sldMk cId="0" sldId="257"/>
            <ac:spMk id="3" creationId="{00000000-0000-0000-0000-000000000000}"/>
          </ac:spMkLst>
        </pc:spChg>
      </pc:sldChg>
      <pc:sldChg chg="delSp mod">
        <pc:chgData name="Vishal Sharma" userId="186a9f7de1fc3dce" providerId="LiveId" clId="{09A98770-D175-4853-BB5E-1EF49EBA68AF}" dt="2026-04-17T20:08:40.688" v="2" actId="478"/>
        <pc:sldMkLst>
          <pc:docMk/>
          <pc:sldMk cId="0" sldId="258"/>
        </pc:sldMkLst>
        <pc:spChg chg="del">
          <ac:chgData name="Vishal Sharma" userId="186a9f7de1fc3dce" providerId="LiveId" clId="{09A98770-D175-4853-BB5E-1EF49EBA68AF}" dt="2026-04-17T20:08:40.688" v="2" actId="478"/>
          <ac:spMkLst>
            <pc:docMk/>
            <pc:sldMk cId="0" sldId="258"/>
            <ac:spMk id="3" creationId="{00000000-0000-0000-0000-000000000000}"/>
          </ac:spMkLst>
        </pc:spChg>
      </pc:sldChg>
      <pc:sldChg chg="addSp delSp mod">
        <pc:chgData name="Vishal Sharma" userId="186a9f7de1fc3dce" providerId="LiveId" clId="{09A98770-D175-4853-BB5E-1EF49EBA68AF}" dt="2026-04-17T20:08:45.515" v="5" actId="478"/>
        <pc:sldMkLst>
          <pc:docMk/>
          <pc:sldMk cId="0" sldId="259"/>
        </pc:sldMkLst>
        <pc:spChg chg="del">
          <ac:chgData name="Vishal Sharma" userId="186a9f7de1fc3dce" providerId="LiveId" clId="{09A98770-D175-4853-BB5E-1EF49EBA68AF}" dt="2026-04-17T20:08:45.515" v="5" actId="478"/>
          <ac:spMkLst>
            <pc:docMk/>
            <pc:sldMk cId="0" sldId="259"/>
            <ac:spMk id="3" creationId="{00000000-0000-0000-0000-000000000000}"/>
          </ac:spMkLst>
        </pc:spChg>
        <pc:spChg chg="add del">
          <ac:chgData name="Vishal Sharma" userId="186a9f7de1fc3dce" providerId="LiveId" clId="{09A98770-D175-4853-BB5E-1EF49EBA68AF}" dt="2026-04-17T20:08:43.479" v="4" actId="478"/>
          <ac:spMkLst>
            <pc:docMk/>
            <pc:sldMk cId="0" sldId="259"/>
            <ac:spMk id="6" creationId="{00000000-0000-0000-0000-000000000000}"/>
          </ac:spMkLst>
        </pc:spChg>
      </pc:sldChg>
      <pc:sldChg chg="delSp mod">
        <pc:chgData name="Vishal Sharma" userId="186a9f7de1fc3dce" providerId="LiveId" clId="{09A98770-D175-4853-BB5E-1EF49EBA68AF}" dt="2026-04-17T20:08:47.214" v="6" actId="478"/>
        <pc:sldMkLst>
          <pc:docMk/>
          <pc:sldMk cId="0" sldId="260"/>
        </pc:sldMkLst>
        <pc:spChg chg="del">
          <ac:chgData name="Vishal Sharma" userId="186a9f7de1fc3dce" providerId="LiveId" clId="{09A98770-D175-4853-BB5E-1EF49EBA68AF}" dt="2026-04-17T20:08:47.214" v="6" actId="478"/>
          <ac:spMkLst>
            <pc:docMk/>
            <pc:sldMk cId="0" sldId="260"/>
            <ac:spMk id="3" creationId="{00000000-0000-0000-0000-000000000000}"/>
          </ac:spMkLst>
        </pc:spChg>
      </pc:sldChg>
      <pc:sldChg chg="delSp mod">
        <pc:chgData name="Vishal Sharma" userId="186a9f7de1fc3dce" providerId="LiveId" clId="{09A98770-D175-4853-BB5E-1EF49EBA68AF}" dt="2026-04-17T20:08:32.319" v="0" actId="478"/>
        <pc:sldMkLst>
          <pc:docMk/>
          <pc:sldMk cId="0" sldId="261"/>
        </pc:sldMkLst>
        <pc:spChg chg="del">
          <ac:chgData name="Vishal Sharma" userId="186a9f7de1fc3dce" providerId="LiveId" clId="{09A98770-D175-4853-BB5E-1EF49EBA68AF}" dt="2026-04-17T20:08:32.319" v="0" actId="478"/>
          <ac:spMkLst>
            <pc:docMk/>
            <pc:sldMk cId="0" sldId="261"/>
            <ac:spMk id="3" creationId="{00000000-0000-0000-0000-000000000000}"/>
          </ac:spMkLst>
        </pc:spChg>
      </pc:sldChg>
      <pc:sldChg chg="delSp mod">
        <pc:chgData name="Vishal Sharma" userId="186a9f7de1fc3dce" providerId="LiveId" clId="{09A98770-D175-4853-BB5E-1EF49EBA68AF}" dt="2026-04-17T20:08:49.630" v="7" actId="478"/>
        <pc:sldMkLst>
          <pc:docMk/>
          <pc:sldMk cId="0" sldId="262"/>
        </pc:sldMkLst>
        <pc:spChg chg="del">
          <ac:chgData name="Vishal Sharma" userId="186a9f7de1fc3dce" providerId="LiveId" clId="{09A98770-D175-4853-BB5E-1EF49EBA68AF}" dt="2026-04-17T20:08:49.630" v="7" actId="478"/>
          <ac:spMkLst>
            <pc:docMk/>
            <pc:sldMk cId="0" sldId="262"/>
            <ac:spMk id="3" creationId="{00000000-0000-0000-0000-000000000000}"/>
          </ac:spMkLst>
        </pc:spChg>
      </pc:sldChg>
      <pc:sldChg chg="delSp mod">
        <pc:chgData name="Vishal Sharma" userId="186a9f7de1fc3dce" providerId="LiveId" clId="{09A98770-D175-4853-BB5E-1EF49EBA68AF}" dt="2026-04-17T20:08:51.158" v="8" actId="478"/>
        <pc:sldMkLst>
          <pc:docMk/>
          <pc:sldMk cId="0" sldId="263"/>
        </pc:sldMkLst>
        <pc:spChg chg="del">
          <ac:chgData name="Vishal Sharma" userId="186a9f7de1fc3dce" providerId="LiveId" clId="{09A98770-D175-4853-BB5E-1EF49EBA68AF}" dt="2026-04-17T20:08:51.158" v="8" actId="478"/>
          <ac:spMkLst>
            <pc:docMk/>
            <pc:sldMk cId="0" sldId="263"/>
            <ac:spMk id="3" creationId="{00000000-0000-0000-0000-000000000000}"/>
          </ac:spMkLst>
        </pc:spChg>
      </pc:sldChg>
      <pc:sldChg chg="delSp mod">
        <pc:chgData name="Vishal Sharma" userId="186a9f7de1fc3dce" providerId="LiveId" clId="{09A98770-D175-4853-BB5E-1EF49EBA68AF}" dt="2026-04-17T20:08:54.228" v="9" actId="478"/>
        <pc:sldMkLst>
          <pc:docMk/>
          <pc:sldMk cId="0" sldId="265"/>
        </pc:sldMkLst>
        <pc:spChg chg="del">
          <ac:chgData name="Vishal Sharma" userId="186a9f7de1fc3dce" providerId="LiveId" clId="{09A98770-D175-4853-BB5E-1EF49EBA68AF}" dt="2026-04-17T20:08:54.228" v="9" actId="478"/>
          <ac:spMkLst>
            <pc:docMk/>
            <pc:sldMk cId="0" sldId="265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332720" y="914400"/>
            <a:ext cx="320040" cy="1828800"/>
          </a:xfrm>
          <a:prstGeom prst="rect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789920" y="548640"/>
            <a:ext cx="320040" cy="2194560"/>
          </a:xfrm>
          <a:prstGeom prst="rect">
            <a:avLst/>
          </a:prstGeom>
          <a:solidFill>
            <a:srgbClr val="59A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247120" y="274320"/>
            <a:ext cx="320040" cy="2468880"/>
          </a:xfrm>
          <a:prstGeom prst="rect">
            <a:avLst/>
          </a:prstGeom>
          <a:solidFill>
            <a:srgbClr val="E15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alibri"/>
              </a:rPr>
              <a:t>CSL7110  ·  Machine Learning with Big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Real-Time Traffic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CADCFC"/>
                </a:solidFill>
                <a:latin typeface="Calibri"/>
              </a:rPr>
              <a:t>using Big Data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Ashwini Gerigenti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1032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2B0"/>
                </a:solidFill>
                <a:latin typeface="Calibri"/>
              </a:rPr>
              <a:t>M25DE1052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4480560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 L Lakshmi Narayana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91032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2B0"/>
                </a:solidFill>
                <a:latin typeface="Calibri"/>
              </a:rPr>
              <a:t>M24DE1054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4924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Bharat Vishal Sharma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8815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2B0"/>
                </a:solidFill>
                <a:latin typeface="Calibri"/>
              </a:rPr>
              <a:t>M25DE1045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IIT Jodhpur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  <a:latin typeface="Calibri"/>
              </a:rPr>
              <a:t>Real-Time Traffic Prediction  ·  CSL7110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537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2B0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Urban traffic congestion affects millions of daily commuters and is a classic big-data problem.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35661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91440" cy="1645920"/>
          </a:xfrm>
          <a:prstGeom prst="rect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2139696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E2761"/>
                </a:solidFill>
                <a:latin typeface="Calibri"/>
              </a:rPr>
              <a:t>10+ 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0896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of NYC taxi data generated per year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011680"/>
            <a:ext cx="35661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2011680"/>
            <a:ext cx="91440" cy="1645920"/>
          </a:xfrm>
          <a:prstGeom prst="rect">
            <a:avLst/>
          </a:prstGeom>
          <a:solidFill>
            <a:srgbClr val="59A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98848" y="2139696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E2761"/>
                </a:solidFill>
                <a:latin typeface="Calibri"/>
              </a:rPr>
              <a:t>3 M+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310896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trip records in a single month alone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011680"/>
            <a:ext cx="35661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2011680"/>
            <a:ext cx="91440" cy="1645920"/>
          </a:xfrm>
          <a:prstGeom prst="rect">
            <a:avLst/>
          </a:prstGeom>
          <a:solidFill>
            <a:srgbClr val="E15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2139696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E2761"/>
                </a:solidFill>
                <a:latin typeface="Calibri"/>
              </a:rPr>
              <a:t>Millions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10896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of daily commuters affected by delays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976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761"/>
                </a:solidFill>
                <a:latin typeface="Calibri"/>
              </a:rPr>
              <a:t>Goal: </a:t>
            </a:r>
            <a:r>
              <a:rPr sz="1700">
                <a:solidFill>
                  <a:srgbClr val="333333"/>
                </a:solidFill>
                <a:latin typeface="Calibri"/>
              </a:rPr>
              <a:t>Build a distributed ML pipeline that predicts NYC taxi trip duration using Apache Spark and Scikit-learn — trained and evaluated on 2.96 million real trip records.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Dataset — NYC Yellow Taxi, Jan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  <a:latin typeface="Calibri"/>
              </a:rPr>
              <a:t>Real-Time Traffic Prediction  ·  CSL7110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537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2B0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Source: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3716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NYC Taxi &amp; Limousine Commission (TLC)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Format: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9202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Parquet  ·  downloaded via official TLC endpoint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Period: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4688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January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17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Size: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0175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2,964,624 rows  ·  19 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66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Retained: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5661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190,941 rows after cleaning (95.5%)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14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Dropped: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1148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nulls, speed &gt; 80 mph, fare ≤ 0, duration &lt; 1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548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Key columns used: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38928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tpep_pickup_datetime / tpep_dropoff_datetime  ·  trip_distance  ·  PULocationID / DOLocationID  ·  passenger_count  ·  fare_amount  ·  payment_type</a:t>
            </a:r>
          </a:p>
        </p:txBody>
      </p:sp>
      <p:pic>
        <p:nvPicPr>
          <p:cNvPr id="20" name="Picture 19" descr="trip_duration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486400" cy="301752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400800" y="4526280"/>
            <a:ext cx="5486400" cy="1097280"/>
          </a:xfrm>
          <a:prstGeom prst="rect">
            <a:avLst/>
          </a:prstGeom>
          <a:solidFill>
            <a:srgbClr val="F0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4617720"/>
            <a:ext cx="52303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Most trips last 5–20 minutes. The right-skewed distribution is expected — we clipped outliers beyond 180 min before training.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  <a:latin typeface="Calibri"/>
              </a:rPr>
              <a:t>Real-Time Traffic Prediction  ·  CSL7110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537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2B0"/>
                </a:solidFill>
                <a:latin typeface="Calibri"/>
              </a:rPr>
              <a:t>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Calibri"/>
              </a:rPr>
              <a:t>8 features derived from raw trip records  ·  target variable: trip_duration_minutes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45920"/>
            <a:ext cx="2240280" cy="2103120"/>
          </a:xfrm>
          <a:prstGeom prst="rect">
            <a:avLst/>
          </a:prstGeom>
          <a:solidFill>
            <a:srgbClr val="F0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645920"/>
            <a:ext cx="2240280" cy="64008"/>
          </a:xfrm>
          <a:prstGeom prst="rect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1792224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Temporal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24028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pickup_hour  (0–23)
pickup_weekday (0–6)
pickup_month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645920"/>
            <a:ext cx="2240280" cy="2103120"/>
          </a:xfrm>
          <a:prstGeom prst="rect">
            <a:avLst/>
          </a:prstGeom>
          <a:solidFill>
            <a:srgbClr val="F0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34640" y="1645920"/>
            <a:ext cx="2240280" cy="64008"/>
          </a:xfrm>
          <a:prstGeom prst="rect">
            <a:avLst/>
          </a:prstGeom>
          <a:solidFill>
            <a:srgbClr val="59A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44368" y="1792224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Boolean Flags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24028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is_weekend
  Saturday / Sunday → 1
is_rush_hour
  07–09 h and 16–19 h →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57800" y="1645920"/>
            <a:ext cx="2240280" cy="2103120"/>
          </a:xfrm>
          <a:prstGeom prst="rect">
            <a:avLst/>
          </a:prstGeom>
          <a:solidFill>
            <a:srgbClr val="F0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257800" y="1645920"/>
            <a:ext cx="2240280" cy="640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67528" y="1792224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Speed-based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7528" y="224028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trip_speed_mph
= distance ÷ duration
Used to label congestion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3886200"/>
            <a:ext cx="3108960" cy="2103120"/>
          </a:xfrm>
          <a:prstGeom prst="rect">
            <a:avLst/>
          </a:prstGeom>
          <a:solidFill>
            <a:srgbClr val="F0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554480" y="3886200"/>
            <a:ext cx="3108960" cy="640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64208" y="403250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Spatial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44805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PULocationID
DOLocationID
(NYC taxi zones 1–265)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3886200"/>
            <a:ext cx="3108960" cy="2103120"/>
          </a:xfrm>
          <a:prstGeom prst="rect">
            <a:avLst/>
          </a:prstGeom>
          <a:solidFill>
            <a:srgbClr val="F0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97680" y="3886200"/>
            <a:ext cx="3108960" cy="64008"/>
          </a:xfrm>
          <a:prstGeom prst="rect">
            <a:avLst/>
          </a:prstGeom>
          <a:solidFill>
            <a:srgbClr val="E15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07408" y="403250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Congestion Labels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44805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High:   speed &lt; 8 mph  (23%)
Medium: 8–16 mph       (53%)
Low:    &gt; 16 mph       (24%)</a:t>
            </a:r>
          </a:p>
        </p:txBody>
      </p:sp>
      <p:pic>
        <p:nvPicPr>
          <p:cNvPr id="27" name="Picture 26" descr="congestio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645920"/>
            <a:ext cx="438912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Exploratory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  <a:latin typeface="Calibri"/>
              </a:rPr>
              <a:t>Real-Time Traffic Prediction  ·  CSL7110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537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2B0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Trip Volume by Hour of Day</a:t>
            </a:r>
          </a:p>
        </p:txBody>
      </p:sp>
      <p:pic>
        <p:nvPicPr>
          <p:cNvPr id="7" name="Picture 6" descr="trips_by_h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72768"/>
            <a:ext cx="5760720" cy="2834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462272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Peak at 8 AM and 6 PM — classic commute pattern visible in the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Average Speed by Hour</a:t>
            </a:r>
          </a:p>
        </p:txBody>
      </p:sp>
      <p:pic>
        <p:nvPicPr>
          <p:cNvPr id="10" name="Picture 9" descr="avg_speed_by_ho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72768"/>
            <a:ext cx="5577840" cy="2834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446227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Speed drops to ~9 mph during rush hours — validates our congestion thresholds.</a:t>
            </a:r>
          </a:p>
        </p:txBody>
      </p:sp>
      <p:pic>
        <p:nvPicPr>
          <p:cNvPr id="12" name="Picture 11" descr="trips_by_weekd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937760"/>
            <a:ext cx="5577840" cy="1600200"/>
          </a:xfrm>
          <a:prstGeom prst="rect">
            <a:avLst/>
          </a:prstGeom>
        </p:spPr>
      </p:pic>
      <p:pic>
        <p:nvPicPr>
          <p:cNvPr id="13" name="Picture 12" descr="trip_duration_d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937760"/>
            <a:ext cx="557784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Machine Learning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  <a:latin typeface="Calibri"/>
              </a:rPr>
              <a:t>Real-Time Traffic Prediction  ·  CSL7110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537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2B0"/>
                </a:solidFill>
                <a:latin typeface="Calibri"/>
              </a:rPr>
              <a:t>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Calibri"/>
              </a:rPr>
              <a:t>We trained two regression models on 13 features, 80/20 train-test split, random_state=42.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48640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5486400" cy="566928"/>
          </a:xfrm>
          <a:prstGeom prst="rect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1737360"/>
            <a:ext cx="52303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Linear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267712"/>
            <a:ext cx="5230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2B0"/>
                </a:solidFill>
                <a:latin typeface="Calibri"/>
              </a:rPr>
              <a:t>Baseline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670048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Hyperparameters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980944"/>
            <a:ext cx="52303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fit_intercept = True
n_features = 13
(sklearn default settings)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3886200"/>
            <a:ext cx="5157216" cy="18288"/>
          </a:xfrm>
          <a:prstGeom prst="rect">
            <a:avLst/>
          </a:prstGeom>
          <a:solidFill>
            <a:srgbClr val="D0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4005072"/>
            <a:ext cx="5230368" cy="22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Assumes a straight-line relationship between
features and trip duration. Fast to train but
cannot capture non-linear patterns like the
interaction between rush hour and location.
Result:  RMSE = 6.861 min  |  MAE = 4.315 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548640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645920"/>
            <a:ext cx="5486400" cy="566928"/>
          </a:xfrm>
          <a:prstGeom prst="rect">
            <a:avLst/>
          </a:prstGeom>
          <a:solidFill>
            <a:srgbClr val="59A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82512" y="1737360"/>
            <a:ext cx="52303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Random Forest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267712"/>
            <a:ext cx="5230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2B0"/>
                </a:solidFill>
                <a:latin typeface="Calibri"/>
              </a:rPr>
              <a:t>Our main model — clear winner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670048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Hyperparameters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980944"/>
            <a:ext cx="52303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n_estimators = 60
max_depth = 12
min_samples_leaf = 10
n_jobs = −1 (all cores)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82512" y="3886200"/>
            <a:ext cx="5157216" cy="18288"/>
          </a:xfrm>
          <a:prstGeom prst="rect">
            <a:avLst/>
          </a:prstGeom>
          <a:solidFill>
            <a:srgbClr val="D0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82512" y="4005072"/>
            <a:ext cx="5230368" cy="22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Ensemble of 60 decision trees, each trained on
a random subset of features and rows. Naturally
handles non-linear relationships and is robust
to the outliers we didn’t fully remove.
Result:  RMSE = 3.939 min  |  MAE = 1.581 min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Results —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  <a:latin typeface="Calibri"/>
              </a:rPr>
              <a:t>Real-Time Traffic Prediction  ·  CSL7110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537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2B0"/>
                </a:solidFill>
                <a:latin typeface="Calibri"/>
              </a:rPr>
              <a:t>7 / 10</a:t>
            </a:r>
          </a:p>
        </p:txBody>
      </p:sp>
      <p:pic>
        <p:nvPicPr>
          <p:cNvPr id="6" name="Picture 5" descr="baseline_regression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863840" cy="2834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95360" y="1371600"/>
            <a:ext cx="3017520" cy="2834640"/>
          </a:xfrm>
          <a:prstGeom prst="rect">
            <a:avLst/>
          </a:prstGeom>
          <a:solidFill>
            <a:srgbClr val="59A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32520" y="14813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alibri"/>
              </a:rPr>
              <a:t>WINNER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82880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Random
Forest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7889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RMSE  3.939 min
MAE   1.581 min
43% lower RMSE
than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389120"/>
            <a:ext cx="43891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4480560"/>
            <a:ext cx="4279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4389120"/>
            <a:ext cx="18288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10912" y="4480560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RMSE (min)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4389120"/>
            <a:ext cx="18288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39712" y="4480560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MAE (min)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4389120"/>
            <a:ext cx="18288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68512" y="4480560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vs. Baseline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46320"/>
            <a:ext cx="4389120" cy="457200"/>
          </a:xfrm>
          <a:prstGeom prst="rect">
            <a:avLst/>
          </a:prstGeom>
          <a:solidFill>
            <a:srgbClr val="F0F4FD"/>
          </a:solidFill>
          <a:ln w="9525">
            <a:solidFill>
              <a:srgbClr val="D0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" y="4928616"/>
            <a:ext cx="4279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Linear Regression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4846320"/>
            <a:ext cx="1828800" cy="457200"/>
          </a:xfrm>
          <a:prstGeom prst="rect">
            <a:avLst/>
          </a:prstGeom>
          <a:solidFill>
            <a:srgbClr val="F0F4FD"/>
          </a:solidFill>
          <a:ln w="9525">
            <a:solidFill>
              <a:srgbClr val="D0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10912" y="4928616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6.861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4846320"/>
            <a:ext cx="1828800" cy="457200"/>
          </a:xfrm>
          <a:prstGeom prst="rect">
            <a:avLst/>
          </a:prstGeom>
          <a:solidFill>
            <a:srgbClr val="F0F4FD"/>
          </a:solidFill>
          <a:ln w="9525">
            <a:solidFill>
              <a:srgbClr val="D0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39712" y="4928616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4.315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95360" y="4846320"/>
            <a:ext cx="1828800" cy="457200"/>
          </a:xfrm>
          <a:prstGeom prst="rect">
            <a:avLst/>
          </a:prstGeom>
          <a:solidFill>
            <a:srgbClr val="F0F4FD"/>
          </a:solidFill>
          <a:ln w="9525">
            <a:solidFill>
              <a:srgbClr val="D0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68512" y="4928616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03520"/>
            <a:ext cx="4389120" cy="457200"/>
          </a:xfrm>
          <a:prstGeom prst="rect">
            <a:avLst/>
          </a:prstGeom>
          <a:solidFill>
            <a:srgbClr val="E8F5E9"/>
          </a:solidFill>
          <a:ln w="9525">
            <a:solidFill>
              <a:srgbClr val="D0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" y="5385816"/>
            <a:ext cx="4279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Random Forest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7760" y="5303520"/>
            <a:ext cx="1828800" cy="457200"/>
          </a:xfrm>
          <a:prstGeom prst="rect">
            <a:avLst/>
          </a:prstGeom>
          <a:solidFill>
            <a:srgbClr val="E8F5E9"/>
          </a:solidFill>
          <a:ln w="9525">
            <a:solidFill>
              <a:srgbClr val="D0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10912" y="5385816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33333"/>
                </a:solidFill>
                <a:latin typeface="Calibri"/>
              </a:rPr>
              <a:t>3.939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0" y="5303520"/>
            <a:ext cx="1828800" cy="457200"/>
          </a:xfrm>
          <a:prstGeom prst="rect">
            <a:avLst/>
          </a:prstGeom>
          <a:solidFill>
            <a:srgbClr val="E8F5E9"/>
          </a:solidFill>
          <a:ln w="9525">
            <a:solidFill>
              <a:srgbClr val="D0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39712" y="5385816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33333"/>
                </a:solidFill>
                <a:latin typeface="Calibri"/>
              </a:rPr>
              <a:t>1.581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5360" y="5303520"/>
            <a:ext cx="1828800" cy="457200"/>
          </a:xfrm>
          <a:prstGeom prst="rect">
            <a:avLst/>
          </a:prstGeom>
          <a:solidFill>
            <a:srgbClr val="E8F5E9"/>
          </a:solidFill>
          <a:ln w="9525">
            <a:solidFill>
              <a:srgbClr val="D0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68512" y="5385816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9A14F"/>
                </a:solidFill>
                <a:latin typeface="Calibri"/>
              </a:rPr>
              <a:t>−43%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Scaling with Apache 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  <a:latin typeface="Calibri"/>
              </a:rPr>
              <a:t>Real-Time Traffic Prediction  ·  CSL7110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537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2B0"/>
                </a:solidFill>
                <a:latin typeface="Calibri"/>
              </a:rPr>
              <a:t>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PySpark 3.5 was used to load and process all 2.96 M rows on a local machine without memory issues.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7132320" cy="1188720"/>
          </a:xfrm>
          <a:prstGeom prst="rect">
            <a:avLst/>
          </a:prstGeom>
          <a:solidFill>
            <a:srgbClr val="F0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084832"/>
            <a:ext cx="530352" cy="530352"/>
          </a:xfrm>
          <a:prstGeom prst="rect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084832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1938528"/>
            <a:ext cx="61447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Full dataset processed with PySpark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2377440"/>
            <a:ext cx="614476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Lazy evaluation and disk spill let us aggregate 2.96 M rows that would exhaust Pandas memory.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7132320" cy="1188720"/>
          </a:xfrm>
          <a:prstGeom prst="rect">
            <a:avLst/>
          </a:prstGeom>
          <a:solidFill>
            <a:srgbClr val="F0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3456432"/>
            <a:ext cx="530352" cy="530352"/>
          </a:xfrm>
          <a:prstGeom prst="rect">
            <a:avLst/>
          </a:prstGeom>
          <a:solidFill>
            <a:srgbClr val="59A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456432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36" y="3310128"/>
            <a:ext cx="61447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MLlib ready for distributed model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3749040"/>
            <a:ext cx="614476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The same LR and RF algorithms in PySpark MLlib can train on the full data across a cluster with zero code change.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72000"/>
            <a:ext cx="7132320" cy="1188720"/>
          </a:xfrm>
          <a:prstGeom prst="rect">
            <a:avLst/>
          </a:prstGeom>
          <a:solidFill>
            <a:srgbClr val="F0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4828032"/>
            <a:ext cx="530352" cy="530352"/>
          </a:xfrm>
          <a:prstGeom prst="rect">
            <a:avLst/>
          </a:prstGeom>
          <a:solidFill>
            <a:srgbClr val="E15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828032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6736" y="4681728"/>
            <a:ext cx="61447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Path to production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5120640"/>
            <a:ext cx="614476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Move scripts to GCP Dataproc or AWS EMR with HDFS — horizontal scaling gives near-linear throughput increase.</a:t>
            </a:r>
          </a:p>
        </p:txBody>
      </p:sp>
      <p:pic>
        <p:nvPicPr>
          <p:cNvPr id="22" name="Picture 21" descr="avg_speed_by_h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737360"/>
            <a:ext cx="41148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15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Scalable. Accurate. Reproducible.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34747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43%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RMSE improvement vs. Linear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514600"/>
            <a:ext cx="34747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3.939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361188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Random Forest RMSE in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514600"/>
            <a:ext cx="34747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1.581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61188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Random Forest MAE in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2628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15759"/>
                </a:solidFill>
                <a:latin typeface="Calibri"/>
              </a:rPr>
              <a:t>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19472"/>
            <a:ext cx="109728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Gradient Boosted Trees (PySpark MLlib)  ·  Weather data integration  ·  Spark Structured Streaming for live predictions  ·  Cloud deployment (GCP / AWS)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5216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Thank you  ·  Questions?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Team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  <a:latin typeface="Calibri"/>
              </a:rPr>
              <a:t>Real-Time Traffic Prediction  ·  CSL7110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537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2B0"/>
                </a:solidFill>
                <a:latin typeface="Calibri"/>
              </a:rPr>
              <a:t>10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3657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3657600" cy="822960"/>
          </a:xfrm>
          <a:prstGeom prst="rect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3560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Ashwini Gerigenti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56232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M25DE1052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2478024"/>
            <a:ext cx="73152" cy="73152"/>
          </a:xfrm>
          <a:prstGeom prst="rect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" y="2313432"/>
            <a:ext cx="3218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Data preprocessing &amp; cleaning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" y="3282696"/>
            <a:ext cx="73152" cy="73152"/>
          </a:xfrm>
          <a:prstGeom prst="rect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" y="3118104"/>
            <a:ext cx="3218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Feature engineering pipeline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" y="4087368"/>
            <a:ext cx="73152" cy="73152"/>
          </a:xfrm>
          <a:prstGeom prst="rect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" y="3922776"/>
            <a:ext cx="3218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ML model training — LR &amp; Random Forest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" y="4892040"/>
            <a:ext cx="73152" cy="73152"/>
          </a:xfrm>
          <a:prstGeom prst="rect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" y="4727448"/>
            <a:ext cx="3218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Model evaluation (RMSE, MAE)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1325880"/>
            <a:ext cx="3657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51960" y="1325880"/>
            <a:ext cx="3657600" cy="822960"/>
          </a:xfrm>
          <a:prstGeom prst="rect">
            <a:avLst/>
          </a:prstGeom>
          <a:solidFill>
            <a:srgbClr val="59A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0" y="143560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 L Lakshmi Narayana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1856232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M24DE1054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16552" y="2478024"/>
            <a:ext cx="73152" cy="73152"/>
          </a:xfrm>
          <a:prstGeom prst="rect">
            <a:avLst/>
          </a:prstGeom>
          <a:solidFill>
            <a:srgbClr val="59A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81144" y="2313432"/>
            <a:ext cx="3218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PySpark environment &amp; distributed pipeline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16552" y="3282696"/>
            <a:ext cx="73152" cy="73152"/>
          </a:xfrm>
          <a:prstGeom prst="rect">
            <a:avLst/>
          </a:prstGeom>
          <a:solidFill>
            <a:srgbClr val="59A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81144" y="3118104"/>
            <a:ext cx="3218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NYC TLC dataset download &amp; inspection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16552" y="4087368"/>
            <a:ext cx="73152" cy="73152"/>
          </a:xfrm>
          <a:prstGeom prst="rect">
            <a:avLst/>
          </a:prstGeom>
          <a:solidFill>
            <a:srgbClr val="59A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81144" y="3922776"/>
            <a:ext cx="3218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data/raw → data/processed pipeline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16552" y="4892040"/>
            <a:ext cx="73152" cy="73152"/>
          </a:xfrm>
          <a:prstGeom prst="rect">
            <a:avLst/>
          </a:prstGeom>
          <a:solidFill>
            <a:srgbClr val="59A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81144" y="4727448"/>
            <a:ext cx="3218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Project coordination &amp; Git management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79" y="1325880"/>
            <a:ext cx="3657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83879" y="1325880"/>
            <a:ext cx="3657600" cy="8229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21039" y="143560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Bharat Vishal Sharma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39" y="1856232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M25DE1045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48471" y="2478024"/>
            <a:ext cx="73152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13063" y="2313432"/>
            <a:ext cx="3218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EDA visualisations (5 charts)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48471" y="3282696"/>
            <a:ext cx="73152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13063" y="3118104"/>
            <a:ext cx="3218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Model comparison chart &amp; metrics JSON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48471" y="4087368"/>
            <a:ext cx="73152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13063" y="3922776"/>
            <a:ext cx="3218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Scalability analysis &amp; documentation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48471" y="4892040"/>
            <a:ext cx="73152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13063" y="4727448"/>
            <a:ext cx="3218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Final report &amp; presentation generation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912</Words>
  <Application>Microsoft Office PowerPoint</Application>
  <PresentationFormat>Custom</PresentationFormat>
  <Paragraphs>137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Vishal Sharma</cp:lastModifiedBy>
  <cp:revision>1</cp:revision>
  <dcterms:created xsi:type="dcterms:W3CDTF">2013-01-27T09:14:16Z</dcterms:created>
  <dcterms:modified xsi:type="dcterms:W3CDTF">2026-04-17T20:09:01Z</dcterms:modified>
  <cp:category/>
</cp:coreProperties>
</file>